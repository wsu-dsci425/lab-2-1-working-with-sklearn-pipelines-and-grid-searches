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60" r:id="rId3"/>
    <p:sldId id="261" r:id="rId4"/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19"/>
    <p:restoredTop sz="94707"/>
  </p:normalViewPr>
  <p:slideViewPr>
    <p:cSldViewPr snapToGrid="0">
      <p:cViewPr varScale="1">
        <p:scale>
          <a:sx n="145" d="100"/>
          <a:sy n="145" d="100"/>
        </p:scale>
        <p:origin x="10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CC974-3554-6253-674C-A00397B6E5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3AA75D-A59D-05A6-B583-7A2725CE97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B49A6-EFC0-B40F-B1B7-32CF1BB30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67148-8638-864D-9DE6-74400341A5FD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6F075-CBB9-E4EC-AF5B-29666BE27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EF899-68E1-852E-4963-E8F93E9AC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1EEDC-83E9-D943-A643-A037B235E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536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CE045-FD89-5151-66BB-73B82AAFF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6093E-A2B9-6A77-763B-FB2C7CAC0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4C269-0DB5-A96E-0C86-FAC0A3DA9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67148-8638-864D-9DE6-74400341A5FD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6282E-5A58-1F40-AE54-16902BC23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CBAA2-6D1E-28E8-E1EF-8139D4A2B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1EEDC-83E9-D943-A643-A037B235E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536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20670-375A-0B69-2852-42D7F0715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771B27-4998-260B-1B0C-45FEA5EECD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68DAD-3928-0629-3B69-36AB6E1AD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67148-8638-864D-9DE6-74400341A5FD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41678-1D0E-0BBF-76C5-1C13102F9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29989-85E9-88C4-A351-ACCB799A0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1EEDC-83E9-D943-A643-A037B235E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139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75538-9AF3-ED71-C2DD-FE80CD89F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CCB2-AD7F-6567-FE6A-7BC2FC3A98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6C790D-CD18-8C01-13A2-50C2A55876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1675CA-A8D9-3F60-3E65-2666FC706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67148-8638-864D-9DE6-74400341A5FD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12D11A-7187-6B9F-3F17-876516097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D06CE-DA52-AD73-03AB-E5811A9B4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1EEDC-83E9-D943-A643-A037B235E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441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7A505-1067-0A9E-7A42-DA69E539F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50700-2F68-EBA0-ABD7-B7F90B9BE3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F805CA-6106-3509-4FBF-3C4CBD059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BDB4F0-0499-2934-4C07-2CCAAE2DF8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AD71FA-38DA-79A6-1862-225598D12C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5D0319-80C7-6322-230E-3B8B4ED6D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67148-8638-864D-9DE6-74400341A5FD}" type="datetimeFigureOut">
              <a:rPr lang="en-US" smtClean="0"/>
              <a:t>1/29/26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AF52A2-058D-01AD-496C-E61AF53EB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70EA9F-C4F8-564B-E797-96EC32BF1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1EEDC-83E9-D943-A643-A037B235E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858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4BE56-00ED-1545-B68D-CFBDBA2CF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7F1D8B-AB40-DC28-82D0-7C7E84DF5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67148-8638-864D-9DE6-74400341A5FD}" type="datetimeFigureOut">
              <a:rPr lang="en-US" smtClean="0"/>
              <a:t>1/29/26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3DAE3D-28E6-32AA-BD6E-4A8797F66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08EE30-D1E3-D3AE-2CAB-2534355A0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1EEDC-83E9-D943-A643-A037B235E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606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190EE4-905A-CA0D-0797-9A39A7189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67148-8638-864D-9DE6-74400341A5FD}" type="datetimeFigureOut">
              <a:rPr lang="en-US" smtClean="0"/>
              <a:t>1/29/26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FFC172-A439-7D3D-4DCD-9830D1B51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673350-57C2-8EDA-9D6F-B3FD5A7F6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1EEDC-83E9-D943-A643-A037B235E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519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D53AF-4A15-39AF-CCAA-763532DD4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CFA8D-E02F-4AD6-C030-95B7A8355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5AF780-1C42-B3B4-ABF0-AB8DD8F3C4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B3E8C9-8F20-4A1C-6824-D08AA048E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67148-8638-864D-9DE6-74400341A5FD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D90EED-AF52-BB4D-66DE-E722DC321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5DBF9-2A5F-5E6E-9C26-D3E074AFA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1EEDC-83E9-D943-A643-A037B235E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089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57AEA-4C4C-6EDE-4DF1-ADEC42588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F2A004-2C1A-7F53-2A17-1B8A7F9CCA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9C74EE-42CE-76EB-4AB0-CDCFC9A5A8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F79FD6-6C45-9069-916E-A216BDF79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67148-8638-864D-9DE6-74400341A5FD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FEB109-193C-5C09-62E3-FAFACAA0F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CF3AC3-1FB0-A6ED-3C1F-73C2E7B52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1EEDC-83E9-D943-A643-A037B235E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348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A43C4-EDCA-CB15-4C85-CAE6A4218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50A145-5A67-837E-F7EF-C0E2E74165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045B4-24C0-AD2B-51E9-7530CAB62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67148-8638-864D-9DE6-74400341A5FD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1B365-AADE-A503-A937-64BA528A5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8DDD7-FC36-E3E2-43F8-E217D1B37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1EEDC-83E9-D943-A643-A037B235E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671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E39843-5F3C-4F18-FBF2-7093DA112E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39AC6A-1793-5A88-F16C-24480C6BEC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DEF95-4375-65C0-D820-97FC361EF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67148-8638-864D-9DE6-74400341A5FD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77815-148C-15EA-554B-CA087E217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1B9FB-F898-565A-525E-2F99B304A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1EEDC-83E9-D943-A643-A037B235E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66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ADE4D7-FC99-83C6-BB1B-D5C88DE81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6F2DDF-FDC4-1870-0827-EE37E094D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98B4D-AAFF-DC59-06E1-96661F68E6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A67148-8638-864D-9DE6-74400341A5FD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47B81-A9E9-69DC-E607-6A6794F3DD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E90E5-B812-8B29-3F29-675CAD1526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91EEDC-83E9-D943-A643-A037B235E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571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first.last@go.winona.edu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BA51E-E74F-E40E-DF26-338A23481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0567"/>
            <a:ext cx="10515600" cy="688228"/>
          </a:xfrm>
        </p:spPr>
        <p:txBody>
          <a:bodyPr>
            <a:normAutofit fontScale="90000"/>
          </a:bodyPr>
          <a:lstStyle/>
          <a:p>
            <a:r>
              <a:rPr lang="en-US" dirty="0"/>
              <a:t>Why are preprocessing pipelines important?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DFB839-B5AF-F9D2-B7B5-BD01D7C308E4}"/>
              </a:ext>
            </a:extLst>
          </p:cNvPr>
          <p:cNvSpPr txBox="1"/>
          <p:nvPr/>
        </p:nvSpPr>
        <p:spPr>
          <a:xfrm>
            <a:off x="652541" y="1872094"/>
            <a:ext cx="18437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Training </a:t>
            </a:r>
          </a:p>
          <a:p>
            <a:pPr algn="ctr"/>
            <a:r>
              <a:rPr lang="en-US" sz="2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9F65AC-6988-1890-FC86-155FBC2461F5}"/>
              </a:ext>
            </a:extLst>
          </p:cNvPr>
          <p:cNvSpPr txBox="1"/>
          <p:nvPr/>
        </p:nvSpPr>
        <p:spPr>
          <a:xfrm>
            <a:off x="2778296" y="1880799"/>
            <a:ext cx="18437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Training </a:t>
            </a:r>
          </a:p>
          <a:p>
            <a:pPr algn="ctr"/>
            <a:r>
              <a:rPr lang="en-US" sz="2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952A76B4-6CFF-5936-2177-657044A1DF0C}"/>
              </a:ext>
            </a:extLst>
          </p:cNvPr>
          <p:cNvGrpSpPr/>
          <p:nvPr/>
        </p:nvGrpSpPr>
        <p:grpSpPr>
          <a:xfrm>
            <a:off x="838995" y="2703091"/>
            <a:ext cx="3673020" cy="4142582"/>
            <a:chOff x="838995" y="2703091"/>
            <a:chExt cx="3673020" cy="414258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9149038-BE36-6645-83B9-3E80C5A649F7}"/>
                </a:ext>
              </a:extLst>
            </p:cNvPr>
            <p:cNvSpPr/>
            <p:nvPr/>
          </p:nvSpPr>
          <p:spPr>
            <a:xfrm>
              <a:off x="838995" y="2837399"/>
              <a:ext cx="3673020" cy="32384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A8E81C1-9C42-1E0D-9C32-5902B05E6551}"/>
                </a:ext>
              </a:extLst>
            </p:cNvPr>
            <p:cNvSpPr/>
            <p:nvPr/>
          </p:nvSpPr>
          <p:spPr>
            <a:xfrm>
              <a:off x="964234" y="3086030"/>
              <a:ext cx="1214717" cy="7126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8575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Transform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00A6435-A3E6-16E9-F2B8-76265BA3AAE0}"/>
                </a:ext>
              </a:extLst>
            </p:cNvPr>
            <p:cNvSpPr/>
            <p:nvPr/>
          </p:nvSpPr>
          <p:spPr>
            <a:xfrm>
              <a:off x="3087155" y="3086030"/>
              <a:ext cx="1214717" cy="7126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8575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Transform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3FE6899-6320-981B-D6FB-DCA82CAF213E}"/>
                </a:ext>
              </a:extLst>
            </p:cNvPr>
            <p:cNvSpPr/>
            <p:nvPr/>
          </p:nvSpPr>
          <p:spPr>
            <a:xfrm>
              <a:off x="1178860" y="4235795"/>
              <a:ext cx="3128682" cy="10309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8575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Model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89A7EB4-4EEA-9500-334C-95E017CD431C}"/>
                </a:ext>
              </a:extLst>
            </p:cNvPr>
            <p:cNvCxnSpPr>
              <a:cxnSpLocks/>
              <a:stCxn id="12" idx="2"/>
              <a:endCxn id="4" idx="0"/>
            </p:cNvCxnSpPr>
            <p:nvPr/>
          </p:nvCxnSpPr>
          <p:spPr>
            <a:xfrm flipH="1">
              <a:off x="1571593" y="2703091"/>
              <a:ext cx="2835" cy="38293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A8AEA48-DE77-4B7F-812C-9426139BCC1E}"/>
                </a:ext>
              </a:extLst>
            </p:cNvPr>
            <p:cNvCxnSpPr>
              <a:cxnSpLocks/>
              <a:stCxn id="13" idx="2"/>
              <a:endCxn id="5" idx="0"/>
            </p:cNvCxnSpPr>
            <p:nvPr/>
          </p:nvCxnSpPr>
          <p:spPr>
            <a:xfrm flipH="1">
              <a:off x="3694514" y="2711796"/>
              <a:ext cx="5669" cy="37423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Elbow Connector 21">
              <a:extLst>
                <a:ext uri="{FF2B5EF4-FFF2-40B4-BE49-F238E27FC236}">
                  <a16:creationId xmlns:a16="http://schemas.microsoft.com/office/drawing/2014/main" id="{7A7B9C75-E5A1-15FE-09C5-4A25539FBCD4}"/>
                </a:ext>
              </a:extLst>
            </p:cNvPr>
            <p:cNvCxnSpPr>
              <a:stCxn id="4" idx="2"/>
              <a:endCxn id="6" idx="0"/>
            </p:cNvCxnSpPr>
            <p:nvPr/>
          </p:nvCxnSpPr>
          <p:spPr>
            <a:xfrm rot="16200000" flipH="1">
              <a:off x="1938862" y="3431455"/>
              <a:ext cx="437071" cy="1171608"/>
            </a:xfrm>
            <a:prstGeom prst="bentConnector3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Elbow Connector 23">
              <a:extLst>
                <a:ext uri="{FF2B5EF4-FFF2-40B4-BE49-F238E27FC236}">
                  <a16:creationId xmlns:a16="http://schemas.microsoft.com/office/drawing/2014/main" id="{D1F88C5E-23F5-0432-17C6-57D9ECFEDB44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 rot="5400000">
              <a:off x="3000323" y="3541603"/>
              <a:ext cx="437071" cy="951313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24D20436-2708-30F9-5B20-03D62A2FA7DD}"/>
                </a:ext>
              </a:extLst>
            </p:cNvPr>
            <p:cNvCxnSpPr>
              <a:cxnSpLocks/>
              <a:stCxn id="6" idx="2"/>
              <a:endCxn id="31" idx="0"/>
            </p:cNvCxnSpPr>
            <p:nvPr/>
          </p:nvCxnSpPr>
          <p:spPr>
            <a:xfrm flipH="1">
              <a:off x="2743199" y="5266737"/>
              <a:ext cx="2" cy="21522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BEA0680-5DB3-F04A-FADF-3E28E52C6D70}"/>
                </a:ext>
              </a:extLst>
            </p:cNvPr>
            <p:cNvSpPr/>
            <p:nvPr/>
          </p:nvSpPr>
          <p:spPr>
            <a:xfrm>
              <a:off x="1687605" y="5481959"/>
              <a:ext cx="2111188" cy="43250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8575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Inverse Transform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E5B70A10-0AE7-134F-C89E-F7E6F5D1A123}"/>
                </a:ext>
              </a:extLst>
            </p:cNvPr>
            <p:cNvCxnSpPr>
              <a:cxnSpLocks/>
              <a:stCxn id="31" idx="2"/>
              <a:endCxn id="35" idx="0"/>
            </p:cNvCxnSpPr>
            <p:nvPr/>
          </p:nvCxnSpPr>
          <p:spPr>
            <a:xfrm>
              <a:off x="2743199" y="5914464"/>
              <a:ext cx="2" cy="46954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E812E118-2889-672F-CCF8-223F8FF94B9A}"/>
                    </a:ext>
                  </a:extLst>
                </p:cNvPr>
                <p:cNvSpPr txBox="1"/>
                <p:nvPr/>
              </p:nvSpPr>
              <p:spPr>
                <a:xfrm>
                  <a:off x="1457504" y="6384008"/>
                  <a:ext cx="2571393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1" dirty="0">
                      <a:solidFill>
                        <a:srgbClr val="00B0F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Predicted </a:t>
                  </a: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accPr>
                        <m:e>
                          <m:r>
                            <a:rPr lang="en-US" sz="24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𝒚</m:t>
                          </m:r>
                        </m:e>
                      </m:acc>
                    </m:oMath>
                  </a14:m>
                  <a:endParaRPr lang="en-US" sz="2400" b="1" dirty="0">
                    <a:solidFill>
                      <a:srgbClr val="00B0F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</mc:Choice>
          <mc:Fallback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E812E118-2889-672F-CCF8-223F8FF94B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7504" y="6384008"/>
                  <a:ext cx="2571393" cy="461665"/>
                </a:xfrm>
                <a:prstGeom prst="rect">
                  <a:avLst/>
                </a:prstGeom>
                <a:blipFill>
                  <a:blip r:embed="rId2"/>
                  <a:stretch>
                    <a:fillRect l="-3431" t="-7895" b="-3157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3C6B39D2-AF82-07FD-300B-2AE5E7CE62E1}"/>
              </a:ext>
            </a:extLst>
          </p:cNvPr>
          <p:cNvGrpSpPr/>
          <p:nvPr/>
        </p:nvGrpSpPr>
        <p:grpSpPr>
          <a:xfrm>
            <a:off x="7002059" y="1873777"/>
            <a:ext cx="4093281" cy="4984223"/>
            <a:chOff x="7002059" y="1873777"/>
            <a:chExt cx="4093281" cy="4984223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6C61295-8984-E332-4B23-D39EBAC8EF3F}"/>
                </a:ext>
              </a:extLst>
            </p:cNvPr>
            <p:cNvSpPr/>
            <p:nvPr/>
          </p:nvSpPr>
          <p:spPr>
            <a:xfrm>
              <a:off x="7492841" y="2837399"/>
              <a:ext cx="3602499" cy="32384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BA6E328-9162-FCC9-8EBE-6F9FBD5EC058}"/>
                </a:ext>
              </a:extLst>
            </p:cNvPr>
            <p:cNvSpPr/>
            <p:nvPr/>
          </p:nvSpPr>
          <p:spPr>
            <a:xfrm>
              <a:off x="7590270" y="3086030"/>
              <a:ext cx="1214717" cy="7126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8575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Transform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1346CCE-E01B-5454-3A60-7D72714BDF0E}"/>
                </a:ext>
              </a:extLst>
            </p:cNvPr>
            <p:cNvSpPr/>
            <p:nvPr/>
          </p:nvSpPr>
          <p:spPr>
            <a:xfrm>
              <a:off x="9713191" y="3070346"/>
              <a:ext cx="1214717" cy="7126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8575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>
                      <a:lumMod val="75000"/>
                    </a:schemeClr>
                  </a:solidFill>
                </a:rPr>
                <a:t>Transform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26491D9-74B8-AB2D-FC37-9B41D26C9CC9}"/>
                </a:ext>
              </a:extLst>
            </p:cNvPr>
            <p:cNvSpPr/>
            <p:nvPr/>
          </p:nvSpPr>
          <p:spPr>
            <a:xfrm>
              <a:off x="7804896" y="4235795"/>
              <a:ext cx="3128682" cy="10309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8575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Model</a:t>
              </a: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A3E5887A-0DEC-B376-B311-FC527E38D4CA}"/>
                </a:ext>
              </a:extLst>
            </p:cNvPr>
            <p:cNvCxnSpPr>
              <a:cxnSpLocks/>
              <a:stCxn id="46" idx="2"/>
              <a:endCxn id="41" idx="0"/>
            </p:cNvCxnSpPr>
            <p:nvPr/>
          </p:nvCxnSpPr>
          <p:spPr>
            <a:xfrm flipH="1">
              <a:off x="8197629" y="2704774"/>
              <a:ext cx="2835" cy="381256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50D0BE1-64B4-A779-7756-37DBD3903E52}"/>
                </a:ext>
              </a:extLst>
            </p:cNvPr>
            <p:cNvSpPr txBox="1"/>
            <p:nvPr/>
          </p:nvSpPr>
          <p:spPr>
            <a:xfrm>
              <a:off x="7002059" y="1873777"/>
              <a:ext cx="239681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Test or New </a:t>
              </a:r>
            </a:p>
            <a:p>
              <a:pPr algn="ctr"/>
              <a:r>
                <a:rPr lang="en-US" sz="2400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X</a:t>
              </a:r>
            </a:p>
          </p:txBody>
        </p:sp>
        <p:cxnSp>
          <p:nvCxnSpPr>
            <p:cNvPr id="49" name="Elbow Connector 48">
              <a:extLst>
                <a:ext uri="{FF2B5EF4-FFF2-40B4-BE49-F238E27FC236}">
                  <a16:creationId xmlns:a16="http://schemas.microsoft.com/office/drawing/2014/main" id="{16C51DD9-56B8-498B-91AE-784A0A23BEDD}"/>
                </a:ext>
              </a:extLst>
            </p:cNvPr>
            <p:cNvCxnSpPr>
              <a:stCxn id="42" idx="2"/>
              <a:endCxn id="43" idx="0"/>
            </p:cNvCxnSpPr>
            <p:nvPr/>
          </p:nvCxnSpPr>
          <p:spPr>
            <a:xfrm rot="5400000">
              <a:off x="9618517" y="3533761"/>
              <a:ext cx="452755" cy="951313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D6FC4655-0FD4-B691-60A6-52409B35D049}"/>
                </a:ext>
              </a:extLst>
            </p:cNvPr>
            <p:cNvCxnSpPr>
              <a:cxnSpLocks/>
              <a:stCxn id="43" idx="2"/>
              <a:endCxn id="51" idx="0"/>
            </p:cNvCxnSpPr>
            <p:nvPr/>
          </p:nvCxnSpPr>
          <p:spPr>
            <a:xfrm flipH="1">
              <a:off x="9369235" y="5266737"/>
              <a:ext cx="2" cy="21522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31C01299-3BDA-0404-298B-39A70C312319}"/>
                </a:ext>
              </a:extLst>
            </p:cNvPr>
            <p:cNvSpPr/>
            <p:nvPr/>
          </p:nvSpPr>
          <p:spPr>
            <a:xfrm>
              <a:off x="8313641" y="5481959"/>
              <a:ext cx="2111188" cy="43250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8575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Inverse Transform</a:t>
              </a: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6CE826AE-23B1-5CFE-0AB2-4B0FC3959A19}"/>
                </a:ext>
              </a:extLst>
            </p:cNvPr>
            <p:cNvCxnSpPr>
              <a:cxnSpLocks/>
              <a:stCxn id="51" idx="2"/>
              <a:endCxn id="53" idx="0"/>
            </p:cNvCxnSpPr>
            <p:nvPr/>
          </p:nvCxnSpPr>
          <p:spPr>
            <a:xfrm>
              <a:off x="9369235" y="5914464"/>
              <a:ext cx="2" cy="48187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ACC33121-6ACD-E20D-6B8D-97D1DC1F6C36}"/>
                    </a:ext>
                  </a:extLst>
                </p:cNvPr>
                <p:cNvSpPr txBox="1"/>
                <p:nvPr/>
              </p:nvSpPr>
              <p:spPr>
                <a:xfrm>
                  <a:off x="8083540" y="6396335"/>
                  <a:ext cx="2571393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1" dirty="0">
                      <a:solidFill>
                        <a:schemeClr val="accent2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Predicted </a:t>
                  </a: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accPr>
                        <m:e>
                          <m:r>
                            <a:rPr lang="en-US" sz="24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𝒚</m:t>
                          </m:r>
                        </m:e>
                      </m:acc>
                    </m:oMath>
                  </a14:m>
                  <a:endParaRPr lang="en-US" sz="2400" b="1" dirty="0">
                    <a:solidFill>
                      <a:schemeClr val="accent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</mc:Choice>
          <mc:Fallback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ACC33121-6ACD-E20D-6B8D-97D1DC1F6C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83540" y="6396335"/>
                  <a:ext cx="2571393" cy="461665"/>
                </a:xfrm>
                <a:prstGeom prst="rect">
                  <a:avLst/>
                </a:prstGeom>
                <a:blipFill>
                  <a:blip r:embed="rId3"/>
                  <a:stretch>
                    <a:fillRect l="-3922" t="-8108" b="-324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8" name="Elbow Connector 47">
              <a:extLst>
                <a:ext uri="{FF2B5EF4-FFF2-40B4-BE49-F238E27FC236}">
                  <a16:creationId xmlns:a16="http://schemas.microsoft.com/office/drawing/2014/main" id="{6B823180-1821-BE43-16AA-A828747C9235}"/>
                </a:ext>
              </a:extLst>
            </p:cNvPr>
            <p:cNvCxnSpPr>
              <a:stCxn id="41" idx="2"/>
              <a:endCxn id="43" idx="0"/>
            </p:cNvCxnSpPr>
            <p:nvPr/>
          </p:nvCxnSpPr>
          <p:spPr>
            <a:xfrm rot="16200000" flipH="1">
              <a:off x="8564898" y="3431455"/>
              <a:ext cx="437071" cy="1171608"/>
            </a:xfrm>
            <a:prstGeom prst="bentConnector3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Right Arrow 54">
            <a:extLst>
              <a:ext uri="{FF2B5EF4-FFF2-40B4-BE49-F238E27FC236}">
                <a16:creationId xmlns:a16="http://schemas.microsoft.com/office/drawing/2014/main" id="{8EFA7F67-8002-FB57-D201-60FCBDDCA6B1}"/>
              </a:ext>
            </a:extLst>
          </p:cNvPr>
          <p:cNvSpPr/>
          <p:nvPr/>
        </p:nvSpPr>
        <p:spPr>
          <a:xfrm>
            <a:off x="4913216" y="4119255"/>
            <a:ext cx="2178424" cy="833717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09D66B3-5BDE-C47F-90A7-39CCE1C6622F}"/>
              </a:ext>
            </a:extLst>
          </p:cNvPr>
          <p:cNvSpPr txBox="1"/>
          <p:nvPr/>
        </p:nvSpPr>
        <p:spPr>
          <a:xfrm>
            <a:off x="932831" y="1141939"/>
            <a:ext cx="36207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>
                <a:solidFill>
                  <a:srgbClr val="00B0F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Phase 1 - Training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ABA6643-E4F9-36CF-D794-F858493DA110}"/>
              </a:ext>
            </a:extLst>
          </p:cNvPr>
          <p:cNvSpPr txBox="1"/>
          <p:nvPr/>
        </p:nvSpPr>
        <p:spPr>
          <a:xfrm>
            <a:off x="6865002" y="1161084"/>
            <a:ext cx="50677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>
                <a:solidFill>
                  <a:schemeClr val="accent2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Phase 2 – Test/New Data</a:t>
            </a:r>
          </a:p>
        </p:txBody>
      </p:sp>
      <p:sp>
        <p:nvSpPr>
          <p:cNvPr id="99" name="Rounded Rectangular Callout 98">
            <a:extLst>
              <a:ext uri="{FF2B5EF4-FFF2-40B4-BE49-F238E27FC236}">
                <a16:creationId xmlns:a16="http://schemas.microsoft.com/office/drawing/2014/main" id="{1718BDD1-6EB1-C92C-79ED-1E745426CD99}"/>
              </a:ext>
            </a:extLst>
          </p:cNvPr>
          <p:cNvSpPr/>
          <p:nvPr/>
        </p:nvSpPr>
        <p:spPr>
          <a:xfrm>
            <a:off x="4913216" y="5502657"/>
            <a:ext cx="1650533" cy="568732"/>
          </a:xfrm>
          <a:prstGeom prst="wedgeRoundRectCallout">
            <a:avLst>
              <a:gd name="adj1" fmla="val -71189"/>
              <a:gd name="adj2" fmla="val 4796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Train with</a:t>
            </a:r>
          </a:p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.fit(X, y)</a:t>
            </a:r>
          </a:p>
        </p:txBody>
      </p:sp>
      <p:sp>
        <p:nvSpPr>
          <p:cNvPr id="100" name="Rounded Rectangular Callout 99">
            <a:extLst>
              <a:ext uri="{FF2B5EF4-FFF2-40B4-BE49-F238E27FC236}">
                <a16:creationId xmlns:a16="http://schemas.microsoft.com/office/drawing/2014/main" id="{A44CD717-4D6C-AAEE-A1A1-0B50752BE87D}"/>
              </a:ext>
            </a:extLst>
          </p:cNvPr>
          <p:cNvSpPr/>
          <p:nvPr/>
        </p:nvSpPr>
        <p:spPr>
          <a:xfrm>
            <a:off x="5392330" y="2787598"/>
            <a:ext cx="1796831" cy="568732"/>
          </a:xfrm>
          <a:prstGeom prst="wedgeRoundRectCallout">
            <a:avLst>
              <a:gd name="adj1" fmla="val 65582"/>
              <a:gd name="adj2" fmla="val 42919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Predict with</a:t>
            </a:r>
          </a:p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.predict(X)</a:t>
            </a:r>
          </a:p>
        </p:txBody>
      </p:sp>
    </p:spTree>
    <p:extLst>
      <p:ext uri="{BB962C8B-B14F-4D97-AF65-F5344CB8AC3E}">
        <p14:creationId xmlns:p14="http://schemas.microsoft.com/office/powerpoint/2010/main" val="1389708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99" grpId="0" animBg="1"/>
      <p:bldP spid="10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A5D53-0D15-BC1C-B5A1-8BABBC1F9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617" y="157736"/>
            <a:ext cx="10515600" cy="822652"/>
          </a:xfrm>
        </p:spPr>
        <p:txBody>
          <a:bodyPr/>
          <a:lstStyle/>
          <a:p>
            <a:r>
              <a:rPr lang="en-US" dirty="0"/>
              <a:t>Getting JMP Student Edition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0BFA6E-3835-4DF2-4C30-2332DB505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40" y="2149554"/>
            <a:ext cx="6810016" cy="3714554"/>
          </a:xfrm>
          <a:prstGeom prst="rect">
            <a:avLst/>
          </a:prstGeom>
        </p:spPr>
      </p:pic>
      <p:sp>
        <p:nvSpPr>
          <p:cNvPr id="4" name="Rounded Rectangular Callout 3">
            <a:extLst>
              <a:ext uri="{FF2B5EF4-FFF2-40B4-BE49-F238E27FC236}">
                <a16:creationId xmlns:a16="http://schemas.microsoft.com/office/drawing/2014/main" id="{2B32C9D4-41A7-4641-E6D4-1556843D3004}"/>
              </a:ext>
            </a:extLst>
          </p:cNvPr>
          <p:cNvSpPr/>
          <p:nvPr/>
        </p:nvSpPr>
        <p:spPr>
          <a:xfrm>
            <a:off x="1341577" y="1713509"/>
            <a:ext cx="3222265" cy="334926"/>
          </a:xfrm>
          <a:prstGeom prst="wedgeRoundRectCallout">
            <a:avLst>
              <a:gd name="adj1" fmla="val -7721"/>
              <a:gd name="adj2" fmla="val 149813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Search “JMP Student Edition”</a:t>
            </a:r>
          </a:p>
        </p:txBody>
      </p:sp>
      <p:sp>
        <p:nvSpPr>
          <p:cNvPr id="5" name="Rounded Rectangular Callout 4">
            <a:extLst>
              <a:ext uri="{FF2B5EF4-FFF2-40B4-BE49-F238E27FC236}">
                <a16:creationId xmlns:a16="http://schemas.microsoft.com/office/drawing/2014/main" id="{EE0A815D-762A-8D71-6A58-8AD92AB08813}"/>
              </a:ext>
            </a:extLst>
          </p:cNvPr>
          <p:cNvSpPr/>
          <p:nvPr/>
        </p:nvSpPr>
        <p:spPr>
          <a:xfrm>
            <a:off x="3827617" y="5916500"/>
            <a:ext cx="1262845" cy="308188"/>
          </a:xfrm>
          <a:prstGeom prst="wedgeRoundRectCallout">
            <a:avLst>
              <a:gd name="adj1" fmla="val 407"/>
              <a:gd name="adj2" fmla="val -117188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Click Here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B09E61-C0FF-DE6D-D00A-984EDA21D568}"/>
              </a:ext>
            </a:extLst>
          </p:cNvPr>
          <p:cNvSpPr txBox="1"/>
          <p:nvPr/>
        </p:nvSpPr>
        <p:spPr>
          <a:xfrm>
            <a:off x="8458200" y="3429000"/>
            <a:ext cx="2656305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IMPORTANT NOTE</a:t>
            </a:r>
          </a:p>
          <a:p>
            <a:pPr algn="ctr"/>
            <a:r>
              <a:rPr lang="en-US" dirty="0"/>
              <a:t>Be sure to use your </a:t>
            </a:r>
          </a:p>
          <a:p>
            <a:pPr algn="ctr"/>
            <a:r>
              <a:rPr lang="en-US" dirty="0">
                <a:hlinkClick r:id="rId3"/>
              </a:rPr>
              <a:t>first.last@go.winona.edu</a:t>
            </a:r>
            <a:endParaRPr lang="en-US" dirty="0"/>
          </a:p>
          <a:p>
            <a:pPr algn="ctr"/>
            <a:r>
              <a:rPr lang="en-US" dirty="0"/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1647730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EF9D0-A328-B67A-246D-7F74343C1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Review</a:t>
            </a:r>
            <a:br>
              <a:rPr lang="en-US" dirty="0"/>
            </a:br>
            <a:r>
              <a:rPr lang="en-US" sz="3200" dirty="0"/>
              <a:t>Visualizing ANCOVA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C9663B-8AF9-3D9B-6BFB-6EE702D5E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613" y="1572966"/>
            <a:ext cx="6254095" cy="4623489"/>
          </a:xfrm>
          <a:prstGeom prst="rect">
            <a:avLst/>
          </a:prstGeom>
        </p:spPr>
      </p:pic>
      <p:sp>
        <p:nvSpPr>
          <p:cNvPr id="4" name="Rounded Rectangular Callout 3">
            <a:extLst>
              <a:ext uri="{FF2B5EF4-FFF2-40B4-BE49-F238E27FC236}">
                <a16:creationId xmlns:a16="http://schemas.microsoft.com/office/drawing/2014/main" id="{DC8490CF-AAA5-2DEC-B855-2C4313686B65}"/>
              </a:ext>
            </a:extLst>
          </p:cNvPr>
          <p:cNvSpPr/>
          <p:nvPr/>
        </p:nvSpPr>
        <p:spPr>
          <a:xfrm>
            <a:off x="4504625" y="6330642"/>
            <a:ext cx="2792991" cy="527358"/>
          </a:xfrm>
          <a:prstGeom prst="wedgeRoundRectCallout">
            <a:avLst>
              <a:gd name="adj1" fmla="val 407"/>
              <a:gd name="adj2" fmla="val -117188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Numeric Explanatory Variable(s) as X</a:t>
            </a:r>
          </a:p>
        </p:txBody>
      </p:sp>
      <p:sp>
        <p:nvSpPr>
          <p:cNvPr id="5" name="Rounded Rectangular Callout 4">
            <a:extLst>
              <a:ext uri="{FF2B5EF4-FFF2-40B4-BE49-F238E27FC236}">
                <a16:creationId xmlns:a16="http://schemas.microsoft.com/office/drawing/2014/main" id="{FD5A15F7-0D83-D4AE-26E4-AADEBB2A62E0}"/>
              </a:ext>
            </a:extLst>
          </p:cNvPr>
          <p:cNvSpPr/>
          <p:nvPr/>
        </p:nvSpPr>
        <p:spPr>
          <a:xfrm>
            <a:off x="8558177" y="3428999"/>
            <a:ext cx="2836654" cy="826477"/>
          </a:xfrm>
          <a:prstGeom prst="wedgeRoundRectCallout">
            <a:avLst>
              <a:gd name="adj1" fmla="val -65386"/>
              <a:gd name="adj2" fmla="val 27195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Facet on</a:t>
            </a:r>
          </a:p>
          <a:p>
            <a:pPr algn="ctr"/>
            <a:r>
              <a:rPr lang="en-US" dirty="0"/>
              <a:t>Categorical Explanatory Variable </a:t>
            </a:r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0F1AFE54-E817-E861-30FE-7B88A5B26D30}"/>
              </a:ext>
            </a:extLst>
          </p:cNvPr>
          <p:cNvSpPr/>
          <p:nvPr/>
        </p:nvSpPr>
        <p:spPr>
          <a:xfrm>
            <a:off x="410837" y="3428999"/>
            <a:ext cx="1743776" cy="527358"/>
          </a:xfrm>
          <a:prstGeom prst="wedgeRoundRectCallout">
            <a:avLst>
              <a:gd name="adj1" fmla="val 53293"/>
              <a:gd name="adj2" fmla="val 92884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Numeric Response as Y</a:t>
            </a:r>
          </a:p>
        </p:txBody>
      </p:sp>
    </p:spTree>
    <p:extLst>
      <p:ext uri="{BB962C8B-B14F-4D97-AF65-F5344CB8AC3E}">
        <p14:creationId xmlns:p14="http://schemas.microsoft.com/office/powerpoint/2010/main" val="3409951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8C38AB1-0945-86D9-411D-A4429474D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7623" y="1021441"/>
            <a:ext cx="7407975" cy="4247317"/>
          </a:xfrm>
          <a:prstGeom prst="rect">
            <a:avLst/>
          </a:prstGeom>
        </p:spPr>
      </p:pic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5F89E585-8C29-4DDA-A190-125FF302380F}"/>
              </a:ext>
            </a:extLst>
          </p:cNvPr>
          <p:cNvSpPr/>
          <p:nvPr/>
        </p:nvSpPr>
        <p:spPr>
          <a:xfrm>
            <a:off x="5657784" y="1458350"/>
            <a:ext cx="1275907" cy="334926"/>
          </a:xfrm>
          <a:prstGeom prst="wedgeRoundRectCallout">
            <a:avLst>
              <a:gd name="adj1" fmla="val -46630"/>
              <a:gd name="adj2" fmla="val 135740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Non-linear</a:t>
            </a:r>
          </a:p>
        </p:txBody>
      </p:sp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4123E06F-9F9C-06FF-3DFB-B1040EE8D963}"/>
              </a:ext>
            </a:extLst>
          </p:cNvPr>
          <p:cNvSpPr/>
          <p:nvPr/>
        </p:nvSpPr>
        <p:spPr>
          <a:xfrm>
            <a:off x="9935079" y="1394769"/>
            <a:ext cx="1275907" cy="334926"/>
          </a:xfrm>
          <a:prstGeom prst="wedgeRoundRectCallout">
            <a:avLst>
              <a:gd name="adj1" fmla="val 37806"/>
              <a:gd name="adj2" fmla="val 138355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Non-linear</a:t>
            </a:r>
          </a:p>
        </p:txBody>
      </p: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74C443F1-A0D4-D7D7-D4B7-E9ABDC12B8EE}"/>
              </a:ext>
            </a:extLst>
          </p:cNvPr>
          <p:cNvSpPr/>
          <p:nvPr/>
        </p:nvSpPr>
        <p:spPr>
          <a:xfrm>
            <a:off x="6755740" y="3938497"/>
            <a:ext cx="843518" cy="256953"/>
          </a:xfrm>
          <a:prstGeom prst="wedgeRoundRectCallout">
            <a:avLst>
              <a:gd name="adj1" fmla="val 5977"/>
              <a:gd name="adj2" fmla="val 188073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Linear</a:t>
            </a:r>
          </a:p>
        </p:txBody>
      </p:sp>
      <p:sp>
        <p:nvSpPr>
          <p:cNvPr id="13" name="Rounded Rectangular Callout 12">
            <a:extLst>
              <a:ext uri="{FF2B5EF4-FFF2-40B4-BE49-F238E27FC236}">
                <a16:creationId xmlns:a16="http://schemas.microsoft.com/office/drawing/2014/main" id="{F81ECEC5-151C-80EA-EDF0-496894B754DE}"/>
              </a:ext>
            </a:extLst>
          </p:cNvPr>
          <p:cNvSpPr/>
          <p:nvPr/>
        </p:nvSpPr>
        <p:spPr>
          <a:xfrm>
            <a:off x="7894308" y="4825791"/>
            <a:ext cx="843518" cy="256953"/>
          </a:xfrm>
          <a:prstGeom prst="wedgeRoundRectCallout">
            <a:avLst>
              <a:gd name="adj1" fmla="val -36546"/>
              <a:gd name="adj2" fmla="val -124950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Linear</a:t>
            </a:r>
          </a:p>
        </p:txBody>
      </p:sp>
      <p:sp>
        <p:nvSpPr>
          <p:cNvPr id="14" name="Rounded Rectangular Callout 13">
            <a:extLst>
              <a:ext uri="{FF2B5EF4-FFF2-40B4-BE49-F238E27FC236}">
                <a16:creationId xmlns:a16="http://schemas.microsoft.com/office/drawing/2014/main" id="{78B88A66-A30E-5962-41C3-FE6221CE6898}"/>
              </a:ext>
            </a:extLst>
          </p:cNvPr>
          <p:cNvSpPr/>
          <p:nvPr/>
        </p:nvSpPr>
        <p:spPr>
          <a:xfrm>
            <a:off x="8943857" y="3938497"/>
            <a:ext cx="843518" cy="256953"/>
          </a:xfrm>
          <a:prstGeom prst="wedgeRoundRectCallout">
            <a:avLst>
              <a:gd name="adj1" fmla="val -6776"/>
              <a:gd name="adj2" fmla="val 198539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Linear</a:t>
            </a:r>
          </a:p>
        </p:txBody>
      </p:sp>
      <p:sp>
        <p:nvSpPr>
          <p:cNvPr id="15" name="Rounded Rectangular Callout 14">
            <a:extLst>
              <a:ext uri="{FF2B5EF4-FFF2-40B4-BE49-F238E27FC236}">
                <a16:creationId xmlns:a16="http://schemas.microsoft.com/office/drawing/2014/main" id="{5E589A2E-67F5-8AD8-5100-9C1A2954725E}"/>
              </a:ext>
            </a:extLst>
          </p:cNvPr>
          <p:cNvSpPr/>
          <p:nvPr/>
        </p:nvSpPr>
        <p:spPr>
          <a:xfrm>
            <a:off x="10573033" y="2772874"/>
            <a:ext cx="1394639" cy="256953"/>
          </a:xfrm>
          <a:prstGeom prst="wedgeRoundRectCallout">
            <a:avLst>
              <a:gd name="adj1" fmla="val 25034"/>
              <a:gd name="adj2" fmla="val -174605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Categorical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67A3210-8553-691A-B1AD-E33873169E7F}"/>
              </a:ext>
            </a:extLst>
          </p:cNvPr>
          <p:cNvGrpSpPr/>
          <p:nvPr/>
        </p:nvGrpSpPr>
        <p:grpSpPr>
          <a:xfrm>
            <a:off x="7738628" y="1729695"/>
            <a:ext cx="1394639" cy="270749"/>
            <a:chOff x="5550196" y="1602945"/>
            <a:chExt cx="1394639" cy="270749"/>
          </a:xfrm>
        </p:grpSpPr>
        <p:sp>
          <p:nvSpPr>
            <p:cNvPr id="16" name="Rounded Rectangular Callout 15">
              <a:extLst>
                <a:ext uri="{FF2B5EF4-FFF2-40B4-BE49-F238E27FC236}">
                  <a16:creationId xmlns:a16="http://schemas.microsoft.com/office/drawing/2014/main" id="{81EE89FB-1F70-53D0-C3A2-3296643F8D32}"/>
                </a:ext>
              </a:extLst>
            </p:cNvPr>
            <p:cNvSpPr/>
            <p:nvPr/>
          </p:nvSpPr>
          <p:spPr>
            <a:xfrm>
              <a:off x="5550196" y="1609843"/>
              <a:ext cx="1394639" cy="256953"/>
            </a:xfrm>
            <a:prstGeom prst="wedgeRoundRectCallout">
              <a:avLst>
                <a:gd name="adj1" fmla="val -8399"/>
                <a:gd name="adj2" fmla="val -167911"/>
                <a:gd name="adj3" fmla="val 16667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Outliers</a:t>
              </a:r>
            </a:p>
          </p:txBody>
        </p:sp>
        <p:sp>
          <p:nvSpPr>
            <p:cNvPr id="17" name="Rounded Rectangular Callout 16">
              <a:extLst>
                <a:ext uri="{FF2B5EF4-FFF2-40B4-BE49-F238E27FC236}">
                  <a16:creationId xmlns:a16="http://schemas.microsoft.com/office/drawing/2014/main" id="{AC05529E-7A1C-8D63-A4A4-3CB8993C0B03}"/>
                </a:ext>
              </a:extLst>
            </p:cNvPr>
            <p:cNvSpPr/>
            <p:nvPr/>
          </p:nvSpPr>
          <p:spPr>
            <a:xfrm>
              <a:off x="5550196" y="1602945"/>
              <a:ext cx="1394639" cy="256953"/>
            </a:xfrm>
            <a:prstGeom prst="wedgeRoundRectCallout">
              <a:avLst>
                <a:gd name="adj1" fmla="val 38220"/>
                <a:gd name="adj2" fmla="val -158541"/>
                <a:gd name="adj3" fmla="val 16667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Outliers</a:t>
              </a:r>
            </a:p>
          </p:txBody>
        </p:sp>
        <p:sp>
          <p:nvSpPr>
            <p:cNvPr id="18" name="Rounded Rectangular Callout 17">
              <a:extLst>
                <a:ext uri="{FF2B5EF4-FFF2-40B4-BE49-F238E27FC236}">
                  <a16:creationId xmlns:a16="http://schemas.microsoft.com/office/drawing/2014/main" id="{0BD1A594-F087-7AC1-F116-4F8AB208A5BD}"/>
                </a:ext>
              </a:extLst>
            </p:cNvPr>
            <p:cNvSpPr/>
            <p:nvPr/>
          </p:nvSpPr>
          <p:spPr>
            <a:xfrm>
              <a:off x="5550196" y="1616741"/>
              <a:ext cx="1394639" cy="256953"/>
            </a:xfrm>
            <a:prstGeom prst="wedgeRoundRectCallout">
              <a:avLst>
                <a:gd name="adj1" fmla="val -74950"/>
                <a:gd name="adj2" fmla="val -153064"/>
                <a:gd name="adj3" fmla="val 16667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Outliers</a:t>
              </a:r>
            </a:p>
          </p:txBody>
        </p:sp>
      </p:grpSp>
      <p:sp>
        <p:nvSpPr>
          <p:cNvPr id="21" name="Right Arrow 20">
            <a:extLst>
              <a:ext uri="{FF2B5EF4-FFF2-40B4-BE49-F238E27FC236}">
                <a16:creationId xmlns:a16="http://schemas.microsoft.com/office/drawing/2014/main" id="{D50C2B44-B910-241E-4783-3EEA7B8263D4}"/>
              </a:ext>
            </a:extLst>
          </p:cNvPr>
          <p:cNvSpPr/>
          <p:nvPr/>
        </p:nvSpPr>
        <p:spPr>
          <a:xfrm>
            <a:off x="4438565" y="2699121"/>
            <a:ext cx="1865999" cy="661411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Very little data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92C56A-DD0A-F3E1-B71F-1BB290D83995}"/>
              </a:ext>
            </a:extLst>
          </p:cNvPr>
          <p:cNvSpPr txBox="1"/>
          <p:nvPr/>
        </p:nvSpPr>
        <p:spPr>
          <a:xfrm>
            <a:off x="197433" y="281852"/>
            <a:ext cx="4065881" cy="42473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Initial Approach.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Filter out the Private For-Profit data and focus on Public VS Private.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Use a OneHot transformer on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FundingModel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Use a standard scalar on each numeric feature (different scales).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Use a polynomial transformer on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AdmissionRate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AverageCost</a:t>
            </a:r>
            <a:r>
              <a:rPr lang="en-US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Use a Grid Search to determine the best values of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The degree of the polynomials for each of the polynomial transformations.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F85E16-66D8-3366-1838-AB0F5CF59C44}"/>
              </a:ext>
            </a:extLst>
          </p:cNvPr>
          <p:cNvSpPr txBox="1"/>
          <p:nvPr/>
        </p:nvSpPr>
        <p:spPr>
          <a:xfrm>
            <a:off x="167545" y="4756733"/>
            <a:ext cx="4065881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TODO.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Deal with the outliers.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Compare to other regression models like kNN.</a:t>
            </a:r>
          </a:p>
        </p:txBody>
      </p:sp>
    </p:spTree>
    <p:extLst>
      <p:ext uri="{BB962C8B-B14F-4D97-AF65-F5344CB8AC3E}">
        <p14:creationId xmlns:p14="http://schemas.microsoft.com/office/powerpoint/2010/main" val="2393068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3129</TotalTime>
  <Words>197</Words>
  <Application>Microsoft Macintosh PowerPoint</Application>
  <PresentationFormat>Widescreen</PresentationFormat>
  <Paragraphs>55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ADLaM Display</vt:lpstr>
      <vt:lpstr>Aptos</vt:lpstr>
      <vt:lpstr>Aptos Display</vt:lpstr>
      <vt:lpstr>Arial</vt:lpstr>
      <vt:lpstr>Cambria Math</vt:lpstr>
      <vt:lpstr>Courier New</vt:lpstr>
      <vt:lpstr>Office Theme</vt:lpstr>
      <vt:lpstr>Why are preprocessing pipelines important?</vt:lpstr>
      <vt:lpstr>Getting JMP Student Edition</vt:lpstr>
      <vt:lpstr>Review Visualizing ANCOVA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Iverson, Todd</dc:creator>
  <cp:lastModifiedBy>Iverson, Todd</cp:lastModifiedBy>
  <cp:revision>4</cp:revision>
  <dcterms:created xsi:type="dcterms:W3CDTF">2026-01-29T13:28:21Z</dcterms:created>
  <dcterms:modified xsi:type="dcterms:W3CDTF">2026-01-31T17:38:18Z</dcterms:modified>
</cp:coreProperties>
</file>